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69" r:id="rId6"/>
    <p:sldId id="270" r:id="rId7"/>
    <p:sldId id="271" r:id="rId8"/>
    <p:sldId id="272" r:id="rId9"/>
    <p:sldId id="273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DA90566-B555-4885-B54F-7AA81C610515}">
  <a:tblStyle styleId="{4DA90566-B555-4885-B54F-7AA81C6105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Google Shape;282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24" name="Google Shape;282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25" name="Google Shape;282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6" name="Google Shape;282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27" name="Google Shape;282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28" name="Google Shape;282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5" name="Google Shape;290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6" name="Google Shape;29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7" name="Google Shape;29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Google Shape;29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5" name="Google Shape;29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6" name="Google Shape;29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7" name="Google Shape;29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0" name="Google Shape;298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1" name="Google Shape;29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8" name="Google Shape;298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9" name="Google Shape;29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7" name="Google Shape;29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3" name="Google Shape;300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4" name="Google Shape;30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" name="Google Shape;283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7" name="Google Shape;283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8" name="Google Shape;283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9" name="Google Shape;283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0" name="Google Shape;284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2" name="Google Shape;284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3" name="Google Shape;284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44" name="Google Shape;284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5" name="Google Shape;284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6" name="Google Shape;284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9" name="Google Shape;284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50" name="Google Shape;285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1" name="Google Shape;285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2" name="Google Shape;285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5" name="Google Shape;285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6" name="Google Shape;285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7" name="Google Shape;285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8" name="Google Shape;285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9" name="Google Shape;285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2" name="Google Shape;286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63" name="Google Shape;286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4" name="Google Shape;286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65" name="Google Shape;286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6" name="Google Shape;286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7" name="Google Shape;286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8" name="Google Shape;286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0" name="Google Shape;287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1" name="Google Shape;28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2" name="Google Shape;287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3" name="Google Shape;28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" name="Google Shape;287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6" name="Google Shape;287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7" name="Google Shape;287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0" name="Google Shape;288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881" name="Google Shape;288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882" name="Google Shape;288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3" name="Google Shape;288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4" name="Google Shape;288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6" name="Google Shape;288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7" name="Google Shape;288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88" name="Google Shape;288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889" name="Google Shape;288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0" name="Google Shape;289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1" name="Google Shape;289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Google Shape;289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4" name="Google Shape;2894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5" name="Google Shape;289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6" name="Google Shape;289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7" name="Google Shape;289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p1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0" name="Google Shape;2900;p1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01" name="Google Shape;290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2" name="Google Shape;290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3" name="Google Shape;290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31" name="Google Shape;283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32" name="Google Shape;283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33" name="Google Shape;283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34" name="Google Shape;283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8" name="Google Shape;290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2386" y="0"/>
            <a:ext cx="2029613" cy="1632314"/>
          </a:xfrm>
          <a:prstGeom prst="rect">
            <a:avLst/>
          </a:prstGeom>
          <a:noFill/>
          <a:ln>
            <a:noFill/>
          </a:ln>
        </p:spPr>
      </p:pic>
      <p:sp>
        <p:nvSpPr>
          <p:cNvPr id="2909" name="Google Shape;2909;p13"/>
          <p:cNvSpPr txBox="1"/>
          <p:nvPr/>
        </p:nvSpPr>
        <p:spPr>
          <a:xfrm>
            <a:off x="2220916" y="94410"/>
            <a:ext cx="7095900" cy="14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1651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St. MARTIN’S ENGINEERING COLLEGE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1085850" lvl="0" indent="-2539" algn="ctr" rtl="0">
              <a:spcBef>
                <a:spcPts val="49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UGC Autonomous </a:t>
            </a:r>
            <a:endParaRPr/>
          </a:p>
          <a:p>
            <a:pPr marL="1143000" marR="1085850" lvl="0" indent="-2539" algn="ctr" rtl="0">
              <a:spcBef>
                <a:spcPts val="49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NBA &amp; NAAC A+ ACCREDITED</a:t>
            </a:r>
            <a:endParaRPr sz="1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marR="1085850" lvl="0" indent="-2539" algn="ctr" rtl="0">
              <a:spcBef>
                <a:spcPts val="49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Dhulapally, Secunderabad– 500100 </a:t>
            </a:r>
            <a:endParaRPr sz="16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0" name="Google Shape;2910;p13"/>
          <p:cNvSpPr txBox="1"/>
          <p:nvPr/>
        </p:nvSpPr>
        <p:spPr>
          <a:xfrm>
            <a:off x="0" y="2167922"/>
            <a:ext cx="12192000" cy="14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 Project on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Loan Risk Management System Using Full Stack Interface And MLOps</a:t>
            </a:r>
            <a:endParaRPr sz="36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1" name="Google Shape;2911;p13"/>
          <p:cNvSpPr txBox="1"/>
          <p:nvPr/>
        </p:nvSpPr>
        <p:spPr>
          <a:xfrm>
            <a:off x="3119717" y="3620529"/>
            <a:ext cx="5952600" cy="19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No: IX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1.K Harshavardhan     (23K81A0586)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2. A Manikanta	    (23K81A0567)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3. A Shankar Raghava (23K81A0566)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2" name="Google Shape;2912;p13"/>
          <p:cNvSpPr txBox="1"/>
          <p:nvPr/>
        </p:nvSpPr>
        <p:spPr>
          <a:xfrm>
            <a:off x="-1" y="5278568"/>
            <a:ext cx="121920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D. SaiKiran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Department of Computer Science And Engineering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13" name="Google Shape;291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9034" y="94410"/>
            <a:ext cx="1460912" cy="1240120"/>
          </a:xfrm>
          <a:prstGeom prst="rect">
            <a:avLst/>
          </a:prstGeom>
          <a:noFill/>
          <a:ln>
            <a:noFill/>
          </a:ln>
        </p:spPr>
      </p:pic>
      <p:sp>
        <p:nvSpPr>
          <p:cNvPr id="2914" name="Google Shape;2914;p13"/>
          <p:cNvSpPr txBox="1"/>
          <p:nvPr/>
        </p:nvSpPr>
        <p:spPr>
          <a:xfrm>
            <a:off x="1" y="1579432"/>
            <a:ext cx="1219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OUTLINE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0" name="Google Shape;2920;p14"/>
          <p:cNvSpPr txBox="1">
            <a:spLocks noGrp="1"/>
          </p:cNvSpPr>
          <p:nvPr>
            <p:ph type="body" idx="1"/>
          </p:nvPr>
        </p:nvSpPr>
        <p:spPr>
          <a:xfrm>
            <a:off x="-1" y="1203649"/>
            <a:ext cx="12192000" cy="49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alibri"/>
              <a:buAutoNum type="arabi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/>
          </a:p>
          <a:p>
            <a:pPr marL="457200" lvl="0" indent="-457200" algn="just" rtl="0">
              <a:lnSpc>
                <a:spcPct val="150000"/>
              </a:lnSpc>
              <a:spcBef>
                <a:spcPts val="415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alibri"/>
              <a:buAutoNum type="arabi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dirty="0"/>
          </a:p>
          <a:p>
            <a:pPr marL="457200" lvl="0" indent="-457200" algn="just" rtl="0">
              <a:lnSpc>
                <a:spcPct val="150000"/>
              </a:lnSpc>
              <a:spcBef>
                <a:spcPts val="415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alibri"/>
              <a:buAutoNum type="arabi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Architectural Design Of Proposed System</a:t>
            </a:r>
          </a:p>
          <a:p>
            <a:pPr marL="457200" lvl="0" indent="-457200" algn="just" rtl="0">
              <a:lnSpc>
                <a:spcPct val="150000"/>
              </a:lnSpc>
              <a:spcBef>
                <a:spcPts val="415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alibri"/>
              <a:buAutoNum type="arabicPeriod"/>
            </a:pPr>
            <a:r>
              <a:rPr lang="en-US" dirty="0">
                <a:latin typeface="Times New Roman"/>
                <a:cs typeface="Times New Roman"/>
                <a:sym typeface="Times New Roman"/>
              </a:rPr>
              <a:t>ER Diagram/ Flow Diagram</a:t>
            </a:r>
          </a:p>
          <a:p>
            <a:pPr marL="457200" lvl="0" indent="-457200" algn="just" rtl="0">
              <a:lnSpc>
                <a:spcPct val="150000"/>
              </a:lnSpc>
              <a:spcBef>
                <a:spcPts val="415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alibri"/>
              <a:buAutoNum type="arabicPeriod"/>
            </a:pPr>
            <a:r>
              <a:rPr lang="en-US" dirty="0">
                <a:latin typeface="Times New Roman"/>
                <a:cs typeface="Times New Roman"/>
                <a:sym typeface="Times New Roman"/>
              </a:rPr>
              <a:t>Algorithms</a:t>
            </a:r>
          </a:p>
          <a:p>
            <a:pPr marL="457200" lvl="0" indent="-457200" algn="just" rtl="0">
              <a:lnSpc>
                <a:spcPct val="150000"/>
              </a:lnSpc>
              <a:spcBef>
                <a:spcPts val="415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alibri"/>
              <a:buAutoNum type="arabicPeriod"/>
            </a:pPr>
            <a:r>
              <a:rPr lang="en-IN" dirty="0"/>
              <a:t>Expected Outcomes</a:t>
            </a:r>
          </a:p>
          <a:p>
            <a:pPr marL="457200" lvl="0" indent="-457200" algn="just" rtl="0">
              <a:lnSpc>
                <a:spcPct val="150000"/>
              </a:lnSpc>
              <a:spcBef>
                <a:spcPts val="415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alibri"/>
              <a:buAutoNum type="arabicPeriod"/>
            </a:pPr>
            <a:r>
              <a:rPr lang="en-IN" dirty="0"/>
              <a:t>30% Of Code Implementation</a:t>
            </a:r>
            <a:endParaRPr dirty="0"/>
          </a:p>
          <a:p>
            <a:pPr marL="457200" lvl="0" indent="-457200" algn="just" rtl="0">
              <a:lnSpc>
                <a:spcPct val="150000"/>
              </a:lnSpc>
              <a:spcBef>
                <a:spcPts val="415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alibri"/>
              <a:buAutoNum type="arabi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/>
          </a:p>
        </p:txBody>
      </p:sp>
      <p:sp>
        <p:nvSpPr>
          <p:cNvPr id="2921" name="Google Shape;29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10-12-2025</a:t>
            </a:r>
            <a:endParaRPr/>
          </a:p>
        </p:txBody>
      </p:sp>
      <p:sp>
        <p:nvSpPr>
          <p:cNvPr id="2922" name="Google Shape;292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7" name="Google Shape;2927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8" name="Google Shape;2928;p15"/>
          <p:cNvSpPr txBox="1">
            <a:spLocks noGrp="1"/>
          </p:cNvSpPr>
          <p:nvPr>
            <p:ph type="body" idx="1"/>
          </p:nvPr>
        </p:nvSpPr>
        <p:spPr>
          <a:xfrm>
            <a:off x="0" y="1203649"/>
            <a:ext cx="12192000" cy="49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21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Many banks still use manual and slow methods for checking loan applications.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7D"/>
              </a:buClr>
              <a:buSzPts val="21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Existing systems depend on basic rules and human judgment, which can cause delays and mistakes.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7D"/>
              </a:buClr>
              <a:buSzPts val="21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The proposed solution introduces a full-stack web application to automate loan risk assessment with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MLOps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pipeline.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7D"/>
              </a:buClr>
              <a:buSzPts val="21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The system provides an easy interface for staff to enter and review applications quickly.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7D"/>
              </a:buClr>
              <a:buSzPts val="21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Overall, the system makes loan approval faster, smarter, and more secure for financial institutions.</a:t>
            </a:r>
            <a:endParaRPr dirty="0"/>
          </a:p>
          <a:p>
            <a:pPr marL="228600" lvl="0" indent="-952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7D"/>
              </a:buClr>
              <a:buSzPts val="2100"/>
              <a:buNone/>
            </a:pP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929" name="Google Shape;292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10-12-2025</a:t>
            </a:r>
            <a:endParaRPr/>
          </a:p>
        </p:txBody>
      </p:sp>
      <p:sp>
        <p:nvSpPr>
          <p:cNvPr id="2930" name="Google Shape;293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" name="Google Shape;2959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dirty="0"/>
          </a:p>
        </p:txBody>
      </p:sp>
      <p:sp>
        <p:nvSpPr>
          <p:cNvPr id="2960" name="Google Shape;2960;p19"/>
          <p:cNvSpPr txBox="1">
            <a:spLocks noGrp="1"/>
          </p:cNvSpPr>
          <p:nvPr>
            <p:ph type="body" idx="1"/>
          </p:nvPr>
        </p:nvSpPr>
        <p:spPr>
          <a:xfrm>
            <a:off x="-1" y="1203649"/>
            <a:ext cx="12192000" cy="49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2100"/>
              <a:buChar char="•"/>
            </a:pPr>
            <a:r>
              <a:rPr lang="en-US" dirty="0"/>
              <a:t>Loan assessment is largely manual and relies on human review. Decision-making uses simple rule-based checks (e.g., income threshold, credit score cutoffs).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7D"/>
              </a:buClr>
              <a:buSzPts val="21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Data entry and document verification are done by staff, often using spreadsheets or legacy tools. Data entry and document verification are done by staff, often using spreadsheets or legacy tools.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7D"/>
              </a:buClr>
              <a:buSzPts val="21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No automated monitoring of decision quality or model performance. Processing time is high, causing application backlogs and customer dissatisfaction. Inconsistent decisions and higher risk of false approvals or rejections.</a:t>
            </a:r>
            <a:endParaRPr dirty="0"/>
          </a:p>
          <a:p>
            <a:pPr marL="228600" lvl="0" indent="-952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7D"/>
              </a:buClr>
              <a:buSzPts val="2100"/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7D"/>
              </a:buClr>
              <a:buSzPts val="2100"/>
              <a:buNone/>
            </a:pPr>
            <a:endParaRPr dirty="0"/>
          </a:p>
          <a:p>
            <a:pPr marL="228600" lvl="0" indent="-3810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7D"/>
              </a:buClr>
              <a:buSzPts val="3000"/>
              <a:buNone/>
            </a:pPr>
            <a:endParaRPr sz="4000" dirty="0">
              <a:solidFill>
                <a:srgbClr val="000000"/>
              </a:solidFill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961" name="Google Shape;296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10-12-2025</a:t>
            </a:r>
            <a:endParaRPr/>
          </a:p>
        </p:txBody>
      </p:sp>
      <p:sp>
        <p:nvSpPr>
          <p:cNvPr id="2962" name="Google Shape;296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03B4-5FDC-6F5D-B71A-BD3C55B37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5763"/>
            <a:ext cx="8905875" cy="723106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31DEC-A8C4-72C3-D6AA-A695D35509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6CC89-E4EC-3AFE-0A5B-998AA9916E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8F77DA-09D9-F523-EB23-C75C20A7FD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88" b="15625"/>
          <a:stretch>
            <a:fillRect/>
          </a:stretch>
        </p:blipFill>
        <p:spPr>
          <a:xfrm>
            <a:off x="1162843" y="1933788"/>
            <a:ext cx="9505157" cy="37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64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09E4-4256-4139-4F19-3CE2BC4DA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1625" y="852725"/>
            <a:ext cx="9048750" cy="629603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C397A-75CE-BE56-3853-2F33B8B342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EF328-13C0-1676-B263-1E1B107166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C2CEDC-9D2B-660A-EC00-919210371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482328"/>
            <a:ext cx="9143999" cy="477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3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7E495-8943-008E-BCC2-F18BEEC8F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9665" y="381006"/>
            <a:ext cx="8621024" cy="477899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827B2E-B2E2-CB10-1567-FCA8AE8B0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063" y="985056"/>
            <a:ext cx="11180229" cy="5371294"/>
          </a:xfrm>
        </p:spPr>
        <p:txBody>
          <a:bodyPr anchor="t">
            <a:noAutofit/>
          </a:bodyPr>
          <a:lstStyle/>
          <a:p>
            <a:pPr marL="508000" indent="-457200" algn="l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missing values, encodes categorical data, and scales features to improve model accuracy.</a:t>
            </a:r>
          </a:p>
          <a:p>
            <a:pPr marL="508000" indent="-457200" algn="l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Train–Test Split: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the dataset into training and testing sets to evaluate model performance.
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probability of loan default and classifies applications into risk categories.
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Classification: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probability thresholds to label loans as Low, Medium, or High Risk.
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MLOps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model performance and retrains the model with new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88574-87E2-3BFD-8E68-366E60D285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69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AAE1B-A560-A652-49DA-385AD3B87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6294"/>
            <a:ext cx="9191625" cy="431403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Analysis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C76C3-1DBB-9131-916F-009AF13C9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375" y="1143000"/>
            <a:ext cx="11608593" cy="486965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O(n):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record is processed once to clean and transform the data.
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– O(n):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Logistic Regression model learns from all training samples.
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Prediction – O(1):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is predicted instantly for a single loan application.
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Retraining (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MLOps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O(n):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new data arrives, the model is retrained using the full dataset.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58D78-4045-BE5D-43B5-493AF95D3A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70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BF8BD-2D16-84FC-CB6C-B7A9C88EB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7843" y="318691"/>
            <a:ext cx="8596313" cy="401637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A92DE-4E8F-0BD4-300C-2AAD721944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BD64F-175B-5BB6-1704-C5D12BEA75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15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3" name="Google Shape;2983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4" name="Google Shape;2984;p22"/>
          <p:cNvSpPr txBox="1">
            <a:spLocks noGrp="1"/>
          </p:cNvSpPr>
          <p:nvPr>
            <p:ph type="body" idx="1"/>
          </p:nvPr>
        </p:nvSpPr>
        <p:spPr>
          <a:xfrm>
            <a:off x="-1" y="1203649"/>
            <a:ext cx="12192000" cy="49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[1]. Kumar, V., &amp; Ravi, V. (2016). "A survey of machine learning techniques in credit risk analysis."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Decision Support Systems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83, 47–63.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[2]. Lessmann, S., Baesens, B., Seow, H. V., &amp; Thomas, L. C. (2015). "Benchmarking state-of-the-art classification algorithms for credit scoring."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European Journal of Operational Research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247(1), 124–136.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[3]. Microsoft Azure Architecture Center. (2020). "MLOps: Continuous delivery and automation pipelines for machine learning." Retrieved from Microsoft Documentation.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[4]. Raj, R., &amp; Sharma, N. (2022).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Full Stack Development for Web Applications.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McGraw-Hill Education.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985" name="Google Shape;298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10-12-2025</a:t>
            </a:r>
            <a:endParaRPr/>
          </a:p>
        </p:txBody>
      </p:sp>
      <p:sp>
        <p:nvSpPr>
          <p:cNvPr id="2986" name="Google Shape;298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1" name="Google Shape;2991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2" name="Google Shape;2992;p23"/>
          <p:cNvSpPr txBox="1">
            <a:spLocks noGrp="1"/>
          </p:cNvSpPr>
          <p:nvPr>
            <p:ph type="body" idx="1"/>
          </p:nvPr>
        </p:nvSpPr>
        <p:spPr>
          <a:xfrm>
            <a:off x="-1" y="1203649"/>
            <a:ext cx="12192000" cy="49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[5]. Google Cloud. (2021). "Effective MLOps: Model development, deployment, and monitoring." Google Cloud Architecture Guide.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[6]. Thomas, L. C. (2009).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Consumer Credit Models: Pricing, Profit and Portfolios.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Oxford University Press.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[7]. Baesens, B. (2014).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Analytics in a Big Data World: The Essential Guide to Data Science and its Applications.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Wiley.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993" name="Google Shape;299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10-12-2025</a:t>
            </a:r>
            <a:endParaRPr/>
          </a:p>
        </p:txBody>
      </p:sp>
      <p:sp>
        <p:nvSpPr>
          <p:cNvPr id="2994" name="Google Shape;299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9" name="Google Shape;2999;p24"/>
          <p:cNvSpPr txBox="1">
            <a:spLocks noGrp="1"/>
          </p:cNvSpPr>
          <p:nvPr>
            <p:ph type="title"/>
          </p:nvPr>
        </p:nvSpPr>
        <p:spPr>
          <a:xfrm>
            <a:off x="0" y="2827175"/>
            <a:ext cx="121920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QUERIES ??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0" name="Google Shape;300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10-12-2025</a:t>
            </a:r>
            <a:endParaRPr/>
          </a:p>
        </p:txBody>
      </p:sp>
      <p:sp>
        <p:nvSpPr>
          <p:cNvPr id="3001" name="Google Shape;300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p25"/>
          <p:cNvSpPr txBox="1">
            <a:spLocks noGrp="1"/>
          </p:cNvSpPr>
          <p:nvPr>
            <p:ph type="title"/>
          </p:nvPr>
        </p:nvSpPr>
        <p:spPr>
          <a:xfrm>
            <a:off x="0" y="2827175"/>
            <a:ext cx="121920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7" name="Google Shape;300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10-12-2025</a:t>
            </a:r>
            <a:endParaRPr/>
          </a:p>
        </p:txBody>
      </p:sp>
      <p:sp>
        <p:nvSpPr>
          <p:cNvPr id="3008" name="Google Shape;300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704</Words>
  <Application>Microsoft Office PowerPoint</Application>
  <PresentationFormat>Widescreen</PresentationFormat>
  <Paragraphs>74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OUTLINE </vt:lpstr>
      <vt:lpstr>ABSTRACT</vt:lpstr>
      <vt:lpstr>EXISTING SYSTEM</vt:lpstr>
      <vt:lpstr>Architectural design</vt:lpstr>
      <vt:lpstr>ER Diagram</vt:lpstr>
      <vt:lpstr>Algorithms</vt:lpstr>
      <vt:lpstr>Complexity Analysis </vt:lpstr>
      <vt:lpstr>Expected Outcomes</vt:lpstr>
      <vt:lpstr>REFERENCES </vt:lpstr>
      <vt:lpstr>REFERENCES </vt:lpstr>
      <vt:lpstr>QUERIES ??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Kammari Harshavardhan</cp:lastModifiedBy>
  <cp:revision>4</cp:revision>
  <dcterms:modified xsi:type="dcterms:W3CDTF">2026-01-07T17:51:07Z</dcterms:modified>
</cp:coreProperties>
</file>